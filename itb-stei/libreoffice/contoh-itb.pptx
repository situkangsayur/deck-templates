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4" r:id="rId4"/>
    <p:sldMasterId id="214748365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Aft>
                <a:spcPts val="595"/>
              </a:spcAft>
              <a:buNone/>
            </a:pP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CC7FC8-6198-4348-8597-7F0F9BAA8B2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E39E3E-5508-4A26-A79C-9A5F8C3F91DD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Bagi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Penut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02D4D47-9A3A-46E2-B930-460BC411E1AF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7700400" y="2728800"/>
            <a:ext cx="972000" cy="97200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72400" y="864000"/>
            <a:ext cx="720000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72400" y="2466000"/>
            <a:ext cx="6840000" cy="17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" name=""/>
          <p:cNvSpPr/>
          <p:nvPr/>
        </p:nvSpPr>
        <p:spPr>
          <a:xfrm>
            <a:off x="572400" y="2059200"/>
            <a:ext cx="8002800" cy="720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9144000" cy="55800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ceba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8650800" y="64800"/>
            <a:ext cx="428400" cy="4284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16400" y="864000"/>
            <a:ext cx="7920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2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D84E7B9B-7A70-4077-9A70-7B2957BE3AC2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3"/>
    <p:sldLayoutId id="2147483653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0"/>
            <a:ext cx="32904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0" name=""/>
          <p:cNvSpPr/>
          <p:nvPr/>
        </p:nvSpPr>
        <p:spPr>
          <a:xfrm>
            <a:off x="3290400" y="0"/>
            <a:ext cx="46800" cy="514368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8409600" y="4406400"/>
            <a:ext cx="572400" cy="572400"/>
          </a:xfrm>
          <a:prstGeom prst="rect">
            <a:avLst/>
          </a:prstGeom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Click to edit the title text format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819600" y="3744000"/>
            <a:ext cx="5112000" cy="5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6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7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29" name=""/>
          <p:cNvSpPr/>
          <p:nvPr/>
        </p:nvSpPr>
        <p:spPr>
          <a:xfrm>
            <a:off x="4114800" y="2829600"/>
            <a:ext cx="914400" cy="9144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30" name="" descr=""/>
          <p:cNvPicPr/>
          <p:nvPr/>
        </p:nvPicPr>
        <p:blipFill>
          <a:blip r:embed="rId2"/>
          <a:stretch/>
        </p:blipFill>
        <p:spPr>
          <a:xfrm>
            <a:off x="4172040" y="2886840"/>
            <a:ext cx="799920" cy="799920"/>
          </a:xfrm>
          <a:prstGeom prst="rect">
            <a:avLst/>
          </a:prstGeom>
          <a:ln w="0">
            <a:noFill/>
          </a:ln>
        </p:spPr>
      </p:pic>
      <p:sp>
        <p:nvSpPr>
          <p:cNvPr id="31" name="PlaceHolder 2"/>
          <p:cNvSpPr>
            <a:spLocks noGrp="1"/>
          </p:cNvSpPr>
          <p:nvPr>
            <p:ph type="ftr" idx="3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4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BCF542D1-9D93-46AE-96B7-D99EE55A2A1F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72400" y="918000"/>
            <a:ext cx="7200000" cy="4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Judul Presentasi Anda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ubTitle"/>
          </p:nvPr>
        </p:nvSpPr>
        <p:spPr>
          <a:xfrm>
            <a:off x="572400" y="1432800"/>
            <a:ext cx="77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900" spc="-1" strike="noStrike">
                <a:solidFill>
                  <a:srgbClr val="212121"/>
                </a:solidFill>
                <a:latin typeface="Fira Sans Book"/>
              </a:rPr>
              <a:t>Subjudul, mis. tinjauan pustaka sistematis (Kitchenham), 2021–2026</a:t>
            </a: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72400" y="25056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Nama Anda · NIM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72400" y="28440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Promotor: Prof. Dr. Nama 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72400" y="30996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Ko-promotor: Dr. Nama Ko-promotor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72400" y="33732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Oktober 2026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72400" y="3765600"/>
            <a:ext cx="6480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ts val="1446"/>
              </a:lnSpc>
            </a:pP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Program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Doktor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Teknik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Elektro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Informatika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  <a:p>
            <a:pPr>
              <a:lnSpc>
                <a:spcPts val="1446"/>
              </a:lnSpc>
            </a:pP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Sekolah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Teknik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Elektro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Informatika,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Institut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Teknologi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Bandung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Agenda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3" name=""/>
          <p:cNvSpPr/>
          <p:nvPr/>
        </p:nvSpPr>
        <p:spPr>
          <a:xfrm>
            <a:off x="0" y="558000"/>
            <a:ext cx="1523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4" name=""/>
          <p:cNvSpPr/>
          <p:nvPr/>
        </p:nvSpPr>
        <p:spPr>
          <a:xfrm>
            <a:off x="12204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Latar belakang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5" name=""/>
          <p:cNvSpPr/>
          <p:nvPr/>
        </p:nvSpPr>
        <p:spPr>
          <a:xfrm>
            <a:off x="7452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6" name=""/>
          <p:cNvSpPr/>
          <p:nvPr/>
        </p:nvSpPr>
        <p:spPr>
          <a:xfrm>
            <a:off x="1220400" y="2246400"/>
            <a:ext cx="3060000" cy="630000"/>
          </a:xfrm>
          <a:prstGeom prst="roundRect">
            <a:avLst>
              <a:gd name="adj" fmla="val 12569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Masalah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pertanyaan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penelitian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7" name=""/>
          <p:cNvSpPr/>
          <p:nvPr/>
        </p:nvSpPr>
        <p:spPr>
          <a:xfrm>
            <a:off x="7452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8" name=""/>
          <p:cNvSpPr/>
          <p:nvPr/>
        </p:nvSpPr>
        <p:spPr>
          <a:xfrm>
            <a:off x="12204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Metode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9" name=""/>
          <p:cNvSpPr/>
          <p:nvPr/>
        </p:nvSpPr>
        <p:spPr>
          <a:xfrm>
            <a:off x="7452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0" name=""/>
          <p:cNvSpPr/>
          <p:nvPr/>
        </p:nvSpPr>
        <p:spPr>
          <a:xfrm>
            <a:off x="12204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RQ1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1" name=""/>
          <p:cNvSpPr/>
          <p:nvPr/>
        </p:nvSpPr>
        <p:spPr>
          <a:xfrm>
            <a:off x="7452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4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2" name=""/>
          <p:cNvSpPr/>
          <p:nvPr/>
        </p:nvSpPr>
        <p:spPr>
          <a:xfrm>
            <a:off x="53352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RQ2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3" name=""/>
          <p:cNvSpPr/>
          <p:nvPr/>
        </p:nvSpPr>
        <p:spPr>
          <a:xfrm>
            <a:off x="48600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5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4" name=""/>
          <p:cNvSpPr/>
          <p:nvPr/>
        </p:nvSpPr>
        <p:spPr>
          <a:xfrm>
            <a:off x="5335200" y="231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RQ3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5" name=""/>
          <p:cNvSpPr/>
          <p:nvPr/>
        </p:nvSpPr>
        <p:spPr>
          <a:xfrm>
            <a:off x="48600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6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6" name=""/>
          <p:cNvSpPr/>
          <p:nvPr/>
        </p:nvSpPr>
        <p:spPr>
          <a:xfrm>
            <a:off x="53352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3600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Celah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riset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model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7" name=""/>
          <p:cNvSpPr/>
          <p:nvPr/>
        </p:nvSpPr>
        <p:spPr>
          <a:xfrm>
            <a:off x="48600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7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8" name=""/>
          <p:cNvSpPr/>
          <p:nvPr/>
        </p:nvSpPr>
        <p:spPr>
          <a:xfrm>
            <a:off x="53352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Validitas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langkah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berikutnya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9" name=""/>
          <p:cNvSpPr/>
          <p:nvPr/>
        </p:nvSpPr>
        <p:spPr>
          <a:xfrm>
            <a:off x="48600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1/6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1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Latar</a:t>
            </a:r>
            <a:r>
              <a:rPr b="1" lang="en-US" sz="2730" spc="310" strike="noStrike">
                <a:solidFill>
                  <a:srgbClr val="003d75"/>
                </a:solidFill>
                <a:latin typeface="Fira Sans"/>
              </a:rPr>
              <a:t> </a:t>
            </a: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belakang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berisi butir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5" name=""/>
          <p:cNvSpPr/>
          <p:nvPr/>
        </p:nvSpPr>
        <p:spPr>
          <a:xfrm>
            <a:off x="0" y="558000"/>
            <a:ext cx="3048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716400" y="1692000"/>
            <a:ext cx="7920000" cy="14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pertama dengan </a:t>
            </a:r>
            <a:r>
              <a:rPr b="1" lang="en-US" sz="1580" spc="-1" strike="noStrike">
                <a:solidFill>
                  <a:srgbClr val="005aab"/>
                </a:solidFill>
                <a:latin typeface="Fira Sans"/>
              </a:rPr>
              <a:t>istilah kunci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 dan </a:t>
            </a:r>
            <a:r>
              <a:rPr b="0" i="1" lang="en-US" sz="1580" spc="-1" strike="noStrike">
                <a:solidFill>
                  <a:srgbClr val="212121"/>
                </a:solidFill>
                <a:latin typeface="Fira Sans Book"/>
              </a:rPr>
              <a:t>istilah asing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kedua dengan </a:t>
            </a:r>
            <a:r>
              <a:rPr b="0" lang="en-US" sz="1580" spc="-1" strike="noStrike">
                <a:solidFill>
                  <a:srgbClr val="b4321c"/>
                </a:solidFill>
                <a:latin typeface="Fira Sans Book"/>
              </a:rPr>
              <a:t>penekanan merah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879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Sub-butir memakai tanda emas.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ketiga, cukup satu gagasan per butir.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72400" y="3218400"/>
            <a:ext cx="720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Sumber: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Penulis,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Tahun;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Penulis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lain,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Tahun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grpSp>
        <p:nvGrpSpPr>
          <p:cNvPr id="68" name=""/>
          <p:cNvGrpSpPr/>
          <p:nvPr/>
        </p:nvGrpSpPr>
        <p:grpSpPr>
          <a:xfrm>
            <a:off x="572400" y="3520800"/>
            <a:ext cx="8002800" cy="637200"/>
            <a:chOff x="572400" y="3520800"/>
            <a:chExt cx="8002800" cy="637200"/>
          </a:xfrm>
        </p:grpSpPr>
        <p:sp>
          <p:nvSpPr>
            <p:cNvPr id="69" name=""/>
            <p:cNvSpPr/>
            <p:nvPr/>
          </p:nvSpPr>
          <p:spPr>
            <a:xfrm>
              <a:off x="572400" y="3520800"/>
              <a:ext cx="8002800" cy="306000"/>
            </a:xfrm>
            <a:prstGeom prst="rect">
              <a:avLst/>
            </a:prstGeom>
            <a:solidFill>
              <a:srgbClr val="e0eb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0" bIns="0" anchor="ctr">
              <a:noAutofit/>
            </a:bodyPr>
            <a:p>
              <a:r>
                <a:rPr b="1" lang="en-US" sz="1580" spc="-1" strike="noStrike">
                  <a:solidFill>
                    <a:srgbClr val="005aab"/>
                  </a:solidFill>
                  <a:latin typeface="Fira Sans"/>
                </a:rPr>
                <a:t>Intinya</a:t>
              </a:r>
              <a:endParaRPr b="1" lang="en-US" sz="1580" spc="-1" strike="noStrike">
                <a:solidFill>
                  <a:srgbClr val="005aab"/>
                </a:solidFill>
                <a:latin typeface="Fira Sans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572400" y="3826800"/>
              <a:ext cx="8002800" cy="331200"/>
            </a:xfrm>
            <a:prstGeom prst="rect">
              <a:avLst/>
            </a:prstGeom>
            <a:solidFill>
              <a:srgbClr val="f2f7f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32400" bIns="32400" anchor="t">
              <a:noAutofit/>
            </a:bodyPr>
            <a:p>
              <a:r>
                <a:rPr b="0" lang="en-US" sz="1580" spc="-1" strike="noStrike">
                  <a:solidFill>
                    <a:srgbClr val="212121"/>
                  </a:solidFill>
                  <a:latin typeface="Fira Sans Book"/>
                </a:rPr>
                <a:t>Satu kalimat yang merangkum pesan utama slide ini.</a:t>
              </a:r>
              <a:endParaRPr b="0" lang="en-US" sz="158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</p:grpSp>
      <p:sp>
        <p:nvSpPr>
          <p:cNvPr id="71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2/6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dua kolom dengan kartu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73" name=""/>
          <p:cNvSpPr/>
          <p:nvPr/>
        </p:nvSpPr>
        <p:spPr>
          <a:xfrm>
            <a:off x="0" y="558000"/>
            <a:ext cx="4572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74" name=""/>
          <p:cNvGrpSpPr/>
          <p:nvPr/>
        </p:nvGrpSpPr>
        <p:grpSpPr>
          <a:xfrm>
            <a:off x="385200" y="1746000"/>
            <a:ext cx="4042800" cy="860400"/>
            <a:chOff x="385200" y="1746000"/>
            <a:chExt cx="4042800" cy="860400"/>
          </a:xfrm>
        </p:grpSpPr>
        <p:sp>
          <p:nvSpPr>
            <p:cNvPr id="75" name=""/>
            <p:cNvSpPr/>
            <p:nvPr/>
          </p:nvSpPr>
          <p:spPr>
            <a:xfrm>
              <a:off x="388800" y="2026800"/>
              <a:ext cx="4039200" cy="579600"/>
            </a:xfrm>
            <a:prstGeom prst="roundRect">
              <a:avLst>
                <a:gd name="adj" fmla="val 13667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Isi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pertama.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Pakai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1" lang="en-US" sz="1270" spc="-1" strike="noStrike">
                  <a:solidFill>
                    <a:srgbClr val="212121"/>
                  </a:solidFill>
                  <a:latin typeface="Fira Sans"/>
                </a:rPr>
                <a:t>tebal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kata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yang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pen­ting.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3852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Topik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77" name=""/>
          <p:cNvGrpSpPr/>
          <p:nvPr/>
        </p:nvGrpSpPr>
        <p:grpSpPr>
          <a:xfrm>
            <a:off x="385200" y="2700000"/>
            <a:ext cx="4042800" cy="792000"/>
            <a:chOff x="385200" y="2700000"/>
            <a:chExt cx="4042800" cy="792000"/>
          </a:xfrm>
        </p:grpSpPr>
        <p:sp>
          <p:nvSpPr>
            <p:cNvPr id="78" name=""/>
            <p:cNvSpPr/>
            <p:nvPr/>
          </p:nvSpPr>
          <p:spPr>
            <a:xfrm>
              <a:off x="388800" y="2948400"/>
              <a:ext cx="4039200" cy="543600"/>
            </a:xfrm>
            <a:prstGeom prst="roundRect">
              <a:avLst>
                <a:gd name="adj" fmla="val 14569"/>
              </a:avLst>
            </a:prstGeom>
            <a:solidFill>
              <a:srgbClr val="ffffff"/>
            </a:solidFill>
            <a:ln w="16200">
              <a:solidFill>
                <a:srgbClr val="e8a31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dengan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kepala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emas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konteks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atau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ca­tatan.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385200" y="2700000"/>
              <a:ext cx="3841200" cy="255600"/>
            </a:xfrm>
            <a:prstGeom prst="roundRect">
              <a:avLst>
                <a:gd name="adj" fmla="val 23944"/>
              </a:avLst>
            </a:prstGeom>
            <a:solidFill>
              <a:srgbClr val="e8a31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Kondisi</a:t>
              </a:r>
              <a:r>
                <a:rPr b="1" lang="en-US" sz="1270" spc="111" strike="noStrike">
                  <a:solidFill>
                    <a:srgbClr val="ffffff"/>
                  </a:solidFill>
                  <a:latin typeface="Fira Sans"/>
                </a:rPr>
                <a:t> </a:t>
              </a:r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saat</a:t>
              </a:r>
              <a:r>
                <a:rPr b="1" lang="en-US" sz="1270" spc="111" strike="noStrike">
                  <a:solidFill>
                    <a:srgbClr val="ffffff"/>
                  </a:solidFill>
                  <a:latin typeface="Fira Sans"/>
                </a:rPr>
                <a:t> </a:t>
              </a:r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ini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80" name=""/>
          <p:cNvGrpSpPr/>
          <p:nvPr/>
        </p:nvGrpSpPr>
        <p:grpSpPr>
          <a:xfrm>
            <a:off x="4766400" y="1746000"/>
            <a:ext cx="4042800" cy="1573200"/>
            <a:chOff x="4766400" y="1746000"/>
            <a:chExt cx="4042800" cy="1573200"/>
          </a:xfrm>
        </p:grpSpPr>
        <p:sp>
          <p:nvSpPr>
            <p:cNvPr id="81" name=""/>
            <p:cNvSpPr/>
            <p:nvPr/>
          </p:nvSpPr>
          <p:spPr>
            <a:xfrm>
              <a:off x="4770000" y="2026800"/>
              <a:ext cx="4039200" cy="129240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6200">
              <a:solidFill>
                <a:srgbClr val="003d7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82" name=""/>
            <p:cNvSpPr/>
            <p:nvPr/>
          </p:nvSpPr>
          <p:spPr>
            <a:xfrm>
              <a:off x="47664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3d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Pertanyaan penelitian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83" name=""/>
          <p:cNvSpPr/>
          <p:nvPr/>
        </p:nvSpPr>
        <p:spPr>
          <a:xfrm>
            <a:off x="4870800" y="21276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198400" y="21528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pertama.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5" name=""/>
          <p:cNvSpPr/>
          <p:nvPr/>
        </p:nvSpPr>
        <p:spPr>
          <a:xfrm>
            <a:off x="4870800" y="25344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198400" y="25596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kedua.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7" name=""/>
          <p:cNvSpPr/>
          <p:nvPr/>
        </p:nvSpPr>
        <p:spPr>
          <a:xfrm>
            <a:off x="4870800" y="29448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198400" y="29700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ketiga.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89" name=""/>
          <p:cNvGrpSpPr/>
          <p:nvPr/>
        </p:nvGrpSpPr>
        <p:grpSpPr>
          <a:xfrm>
            <a:off x="4766400" y="3416400"/>
            <a:ext cx="4042800" cy="565200"/>
            <a:chOff x="4766400" y="3416400"/>
            <a:chExt cx="4042800" cy="565200"/>
          </a:xfrm>
        </p:grpSpPr>
        <p:sp>
          <p:nvSpPr>
            <p:cNvPr id="90" name=""/>
            <p:cNvSpPr/>
            <p:nvPr/>
          </p:nvSpPr>
          <p:spPr>
            <a:xfrm>
              <a:off x="4770000" y="3654000"/>
              <a:ext cx="4039200" cy="327600"/>
            </a:xfrm>
            <a:prstGeom prst="roundRect">
              <a:avLst>
                <a:gd name="adj" fmla="val 24176"/>
              </a:avLst>
            </a:prstGeom>
            <a:solidFill>
              <a:srgbClr val="ffffff"/>
            </a:solidFill>
            <a:ln w="16200">
              <a:solidFill>
                <a:srgbClr val="b4321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merah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risiko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atau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keterbatasan.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4766400" y="3416400"/>
              <a:ext cx="3841200" cy="244800"/>
            </a:xfrm>
            <a:prstGeom prst="roundRect">
              <a:avLst>
                <a:gd name="adj" fmla="val 25000"/>
              </a:avLst>
            </a:prstGeom>
            <a:solidFill>
              <a:srgbClr val="b4321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Keterbatasan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92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3/6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Temuan utama sekilas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4" name=""/>
          <p:cNvSpPr/>
          <p:nvPr/>
        </p:nvSpPr>
        <p:spPr>
          <a:xfrm>
            <a:off x="0" y="558000"/>
            <a:ext cx="6095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95" name=""/>
          <p:cNvSpPr/>
          <p:nvPr/>
        </p:nvSpPr>
        <p:spPr>
          <a:xfrm>
            <a:off x="8424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104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makalah</a:t>
            </a:r>
            <a:r>
              <a:rPr b="0" lang="en-US" sz="1110" spc="197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primer</a:t>
            </a:r>
            <a:r>
              <a:rPr b="0" lang="en-US" sz="1110" spc="197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terpilih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6" name=""/>
          <p:cNvSpPr/>
          <p:nvPr/>
        </p:nvSpPr>
        <p:spPr>
          <a:xfrm>
            <a:off x="27576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12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angka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kedua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7" name=""/>
          <p:cNvSpPr/>
          <p:nvPr/>
        </p:nvSpPr>
        <p:spPr>
          <a:xfrm>
            <a:off x="46728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9360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6 / 17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rasio</a:t>
            </a:r>
            <a:r>
              <a:rPr b="0" lang="en-US" sz="1110" spc="225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atau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perbandingan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8" name=""/>
          <p:cNvSpPr/>
          <p:nvPr/>
        </p:nvSpPr>
        <p:spPr>
          <a:xfrm>
            <a:off x="65880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b432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0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temuan negatif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9" name=""/>
          <p:cNvSpPr/>
          <p:nvPr/>
        </p:nvSpPr>
        <p:spPr>
          <a:xfrm>
            <a:off x="8424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27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0" name=""/>
          <p:cNvSpPr/>
          <p:nvPr/>
        </p:nvSpPr>
        <p:spPr>
          <a:xfrm>
            <a:off x="27576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1" name=""/>
          <p:cNvSpPr/>
          <p:nvPr/>
        </p:nvSpPr>
        <p:spPr>
          <a:xfrm>
            <a:off x="46728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97200" bIns="43200" anchor="ctr">
            <a:noAutofit/>
          </a:bodyPr>
          <a:p>
            <a:pPr algn="ctr">
              <a:lnSpc>
                <a:spcPts val="2381"/>
              </a:lnSpc>
              <a:spcAft>
                <a:spcPts val="312"/>
              </a:spcAft>
            </a:pPr>
            <a:r>
              <a:rPr b="1" lang="en-US" sz="2370" spc="-1" strike="noStrike">
                <a:solidFill>
                  <a:srgbClr val="ffffff"/>
                </a:solidFill>
                <a:latin typeface="Fira Sans"/>
              </a:rPr>
              <a:t>USD 7,3 jt</a:t>
            </a:r>
            <a:endParaRPr b="0" lang="en-US" sz="237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nilai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lebar,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huruf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lebih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kecil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2" name=""/>
          <p:cNvSpPr/>
          <p:nvPr/>
        </p:nvSpPr>
        <p:spPr>
          <a:xfrm>
            <a:off x="65880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5760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celah</a:t>
            </a:r>
            <a:r>
              <a:rPr b="0" lang="en-US" sz="1110" spc="225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riset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4/6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2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819600" y="14688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Metode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Diagram alur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558000"/>
            <a:ext cx="7620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09" name=""/>
          <p:cNvSpPr/>
          <p:nvPr/>
        </p:nvSpPr>
        <p:spPr>
          <a:xfrm>
            <a:off x="6768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Klarifikasi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Riset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768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1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1" name=""/>
          <p:cNvSpPr/>
          <p:nvPr/>
        </p:nvSpPr>
        <p:spPr>
          <a:xfrm>
            <a:off x="25092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2" name=""/>
          <p:cNvSpPr/>
          <p:nvPr/>
        </p:nvSpPr>
        <p:spPr>
          <a:xfrm>
            <a:off x="27342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7342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2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4" name=""/>
          <p:cNvSpPr/>
          <p:nvPr/>
        </p:nvSpPr>
        <p:spPr>
          <a:xfrm>
            <a:off x="45666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5" name=""/>
          <p:cNvSpPr/>
          <p:nvPr/>
        </p:nvSpPr>
        <p:spPr>
          <a:xfrm>
            <a:off x="47916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Preskriptif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916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3–4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7" name=""/>
          <p:cNvSpPr/>
          <p:nvPr/>
        </p:nvSpPr>
        <p:spPr>
          <a:xfrm>
            <a:off x="66240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8" name=""/>
          <p:cNvSpPr/>
          <p:nvPr/>
        </p:nvSpPr>
        <p:spPr>
          <a:xfrm>
            <a:off x="68490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8490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5–6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20" name=""/>
          <p:cNvSpPr/>
          <p:nvPr/>
        </p:nvSpPr>
        <p:spPr>
          <a:xfrm>
            <a:off x="590400" y="1742400"/>
            <a:ext cx="2001600" cy="1170000"/>
          </a:xfrm>
          <a:prstGeom prst="roundRect">
            <a:avLst>
              <a:gd name="adj" fmla="val 6769"/>
            </a:avLst>
          </a:prstGeom>
          <a:noFill/>
          <a:ln w="4032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1" name=""/>
          <p:cNvSpPr/>
          <p:nvPr/>
        </p:nvSpPr>
        <p:spPr>
          <a:xfrm>
            <a:off x="1242000" y="1461600"/>
            <a:ext cx="698400" cy="280800"/>
          </a:xfrm>
          <a:prstGeom prst="roundRect">
            <a:avLst>
              <a:gd name="adj" fmla="val 14102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000000"/>
                </a:solidFill>
                <a:latin typeface="Fira Sans"/>
              </a:rPr>
              <a:t>tahap ini</a:t>
            </a:r>
            <a:endParaRPr b="1" lang="en-US" sz="1110" spc="-1" strike="noStrike">
              <a:solidFill>
                <a:srgbClr val="000000"/>
              </a:solidFill>
              <a:latin typeface="Fira Sans"/>
            </a:endParaRPr>
          </a:p>
        </p:txBody>
      </p:sp>
      <p:grpSp>
        <p:nvGrpSpPr>
          <p:cNvPr id="122" name=""/>
          <p:cNvGrpSpPr/>
          <p:nvPr/>
        </p:nvGrpSpPr>
        <p:grpSpPr>
          <a:xfrm>
            <a:off x="370800" y="3610800"/>
            <a:ext cx="2602800" cy="590400"/>
            <a:chOff x="370800" y="3610800"/>
            <a:chExt cx="2602800" cy="590400"/>
          </a:xfrm>
        </p:grpSpPr>
        <p:sp>
          <p:nvSpPr>
            <p:cNvPr id="123" name=""/>
            <p:cNvSpPr/>
            <p:nvPr/>
          </p:nvSpPr>
          <p:spPr>
            <a:xfrm>
              <a:off x="37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pertama.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37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1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25" name=""/>
          <p:cNvGrpSpPr/>
          <p:nvPr/>
        </p:nvGrpSpPr>
        <p:grpSpPr>
          <a:xfrm>
            <a:off x="3295800" y="3610800"/>
            <a:ext cx="2602800" cy="590400"/>
            <a:chOff x="3295800" y="3610800"/>
            <a:chExt cx="2602800" cy="590400"/>
          </a:xfrm>
        </p:grpSpPr>
        <p:sp>
          <p:nvSpPr>
            <p:cNvPr id="126" name=""/>
            <p:cNvSpPr/>
            <p:nvPr/>
          </p:nvSpPr>
          <p:spPr>
            <a:xfrm>
              <a:off x="3299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kedua.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3295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2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28" name=""/>
          <p:cNvGrpSpPr/>
          <p:nvPr/>
        </p:nvGrpSpPr>
        <p:grpSpPr>
          <a:xfrm>
            <a:off x="6220800" y="3610800"/>
            <a:ext cx="2602800" cy="590400"/>
            <a:chOff x="6220800" y="3610800"/>
            <a:chExt cx="2602800" cy="590400"/>
          </a:xfrm>
        </p:grpSpPr>
        <p:sp>
          <p:nvSpPr>
            <p:cNvPr id="129" name=""/>
            <p:cNvSpPr/>
            <p:nvPr/>
          </p:nvSpPr>
          <p:spPr>
            <a:xfrm>
              <a:off x="622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ketiga.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622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3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131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5/6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Tabel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aphicFrame>
        <p:nvGraphicFramePr>
          <p:cNvPr id="134" name=""/>
          <p:cNvGraphicFramePr/>
          <p:nvPr/>
        </p:nvGraphicFramePr>
        <p:xfrm>
          <a:off x="2138400" y="2260800"/>
          <a:ext cx="4921200" cy="1231200"/>
        </p:xfrm>
        <a:graphic>
          <a:graphicData uri="http://schemas.openxmlformats.org/drawingml/2006/table">
            <a:tbl>
              <a:tblPr/>
              <a:tblGrid>
                <a:gridCol w="1807200"/>
                <a:gridCol w="810000"/>
                <a:gridCol w="684000"/>
                <a:gridCol w="1620000"/>
              </a:tblGrid>
              <a:tr h="360000">
                <a:tc>
                  <a:txBody>
                    <a:bodyPr lIns="0" rIns="36000" tIns="75600" bIns="691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Tahap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75600" bIns="691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Jumlah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75600" bIns="691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Sisa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20960" rIns="0" tIns="75600" bIns="691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20" spc="-9" strike="noStrike">
                          <a:solidFill>
                            <a:srgbClr val="212121"/>
                          </a:solidFill>
                          <a:latin typeface="Fira Sans"/>
                        </a:rPr>
                        <a:t>Catatan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</a:tr>
              <a:tr h="309600">
                <a:tc>
                  <a:txBody>
                    <a:bodyPr lIns="0" rIns="36000" tIns="72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Pencarian basis data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72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1.250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72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1.250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0960" rIns="0" tIns="72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Scopus, IEEE, ACM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55600">
                <a:tc>
                  <a:txBody>
                    <a:bodyPr lIns="0" rIns="36000" tIns="18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Saring judul/abstrak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18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− </a:t>
                      </a: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980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18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270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0960" rIns="0" tIns="18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kriteria inklusi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06000">
                <a:tc>
                  <a:txBody>
                    <a:bodyPr lIns="0" rIns="36000" tIns="18000" bIns="727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Baca teks lengkap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18000" bIns="727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− </a:t>
                      </a: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166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18000" bIns="727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104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20960" rIns="0" tIns="18000" bIns="727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penilaian kualitas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5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6/6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0" y="1198800"/>
            <a:ext cx="9144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buNone/>
            </a:pPr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Terima kasih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0" y="1785600"/>
            <a:ext cx="9144000" cy="28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580" spc="-1" strike="noStrike">
                <a:solidFill>
                  <a:srgbClr val="ffffff"/>
                </a:solidFill>
                <a:latin typeface="Fira Sans"/>
              </a:rPr>
              <a:t>Nama Anda · NIM</a:t>
            </a:r>
            <a:endParaRPr b="1" lang="en-US" sz="15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0" y="2296800"/>
            <a:ext cx="9144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270" spc="-1" strike="noStrike">
                <a:solidFill>
                  <a:srgbClr val="ffffff"/>
                </a:solidFill>
                <a:latin typeface="Fira Sans"/>
              </a:rPr>
              <a:t>nim@mahasiswa.itb.ac.id · situs-anda.id</a:t>
            </a:r>
            <a:endParaRPr b="1" lang="en-US" sz="127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6/6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>Contoh slide ITB</dc:title>
</cp:coreProperties>
</file>